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0D09C"/>
                </a:solidFill>
              </a:defRPr>
            </a:pPr>
            <a:r>
              <a:t>THE COMMUNITY SUPER APP</a:t>
            </a:r>
          </a:p>
          <a:p>
            <a:pPr>
              <a:spcAft>
                <a:spcPts val="1400"/>
              </a:spcAft>
              <a:defRPr sz="4400" b="1">
                <a:solidFill>
                  <a:srgbClr val="FFFFFF"/>
                </a:solidFill>
              </a:defRPr>
            </a:pPr>
            <a:r>
              <a:t>Mana Community</a:t>
            </a:r>
          </a:p>
          <a:p>
            <a:pPr>
              <a:spcAft>
                <a:spcPts val="2400"/>
              </a:spcAft>
              <a:defRPr sz="1400">
                <a:solidFill>
                  <a:srgbClr val="CBD5E1"/>
                </a:solidFill>
              </a:defRPr>
            </a:pPr>
            <a:r>
              <a:t>A complete, unified ecosystem connecting residents, facility operations, local commerce, healthcare, sports leagues, and financial infrastructure.</a:t>
            </a:r>
          </a:p>
          <a:p>
            <a:pPr>
              <a:defRPr sz="1100" b="1">
                <a:solidFill>
                  <a:srgbClr val="94A3B8"/>
                </a:solidFill>
              </a:defRPr>
            </a:pPr>
            <a:r>
              <a:t>Comprehensive Application Features, Architecture &amp; Phased Roadmap</a:t>
            </a:r>
          </a:p>
        </p:txBody>
      </p:sp>
      <p:pic>
        <p:nvPicPr>
          <p:cNvPr id="4" name="Picture 3" descr="screen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640080"/>
            <a:ext cx="2286000" cy="4826643"/>
          </a:xfrm>
          <a:prstGeom prst="rect">
            <a:avLst/>
          </a:prstGeom>
        </p:spPr>
      </p:pic>
      <p:pic>
        <p:nvPicPr>
          <p:cNvPr id="5" name="Picture 4" descr="screen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1188720"/>
            <a:ext cx="2194560" cy="46335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6FAF5"/>
          </a:solidFill>
          <a:ln w="12700">
            <a:solidFill>
              <a:srgbClr val="00D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8767"/>
                </a:solidFill>
              </a:defRPr>
            </a:pPr>
            <a:r>
              <a:t>PLATFORM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Executive Overview: From Fragmented Apps to One Super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9319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1645920" cy="23774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E11D48"/>
                </a:solidFill>
              </a:defRPr>
            </a:pPr>
            <a:r>
              <a:t>CURRENT RESIDENT PAIN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The Fragmentation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35661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Residents navigate 6–8 disjointed apps for gate passes, maintenance dues, tournament registrations, local marketplace buying, maids, and complaints.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RWA Treasurers endure manual bank statement reconciliation, untracked cash/cheque entries, and zero cross-department audit trails.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Siloed communication leads to low civic participation, unaddressed emergency panic triggers, and underutilized clubhouse amenities.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554480"/>
            <a:ext cx="39319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0" y="1737360"/>
            <a:ext cx="1645920" cy="23774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0D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D09C"/>
                </a:solidFill>
              </a:defRPr>
            </a:pPr>
            <a:r>
              <a:t>UNIFIED VALUE PROPOSITION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057400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The Mana Community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514600"/>
            <a:ext cx="35661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Single Pane of Glass: Every society touchpoint—from biometric entry to health diagnostics—accessible under one native mobile &amp; web UI.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Built-in FinTech (Mana Pay): Standardized checkout, itemized line-item transparency, auto-generated digital receipts, and bank UTR reconciliation.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Democratic Governance: Hybrid AGM quorums, secret ballot e-voting, and certified resolution vaults.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Community Economic Value: Group buying pools, local deals, and verified resident talent directory.</a:t>
            </a:r>
          </a:p>
        </p:txBody>
      </p:sp>
      <p:pic>
        <p:nvPicPr>
          <p:cNvPr id="13" name="Picture 12" descr="screen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371600"/>
            <a:ext cx="2377440" cy="50197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6FAF5"/>
          </a:solidFill>
          <a:ln w="12700">
            <a:solidFill>
              <a:srgbClr val="00D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8767"/>
                </a:solidFill>
              </a:defRPr>
            </a:pPr>
            <a:r>
              <a:t>COMMUNITY &amp; SOCIAL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Resident Living: The Everyday Experience</a:t>
            </a:r>
          </a:p>
        </p:txBody>
      </p:sp>
      <p:pic>
        <p:nvPicPr>
          <p:cNvPr id="5" name="Picture 4" descr="screen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2423160" cy="511624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474720" y="1554480"/>
            <a:ext cx="39319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0" y="1737360"/>
            <a:ext cx="1645920" cy="23774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0D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D09C"/>
                </a:solidFill>
              </a:defRPr>
            </a:pPr>
            <a:r>
              <a:t>IMPLEMENTED &amp; 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057400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Community Feed &amp;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514600"/>
            <a:ext cx="35661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Personalized Feed: Multi-media updates, verified RWA circulars, and neighbor discussions organized by Tower &amp; Wing.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Instant Community Polls: Gather consensus on playground timings, festival dates, and pet guidelines in real-time.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Community Directory: Direct, secure communication between flat owners and verified tenants without exchanging phone numbers.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Lost &amp; Found Network: Instant photo broadcast for lost pets, keys, or personal belongings with neighbor notification tags.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554480"/>
            <a:ext cx="39319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0" y="1737360"/>
            <a:ext cx="1645920" cy="23774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0D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D09C"/>
                </a:solidFill>
              </a:defRPr>
            </a:pPr>
            <a:r>
              <a:t>IMPLEMENTED &amp; OPERATIONAL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057400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Events, RSVP &amp; Activities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514600"/>
            <a:ext cx="35661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Digital Event Hub: Browse upcoming festivals, amphitheater movie nights, and kids' summer workshops.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1-Tap RSVP &amp; Ticketing: Dynamic QR entry passes issued instantly with automated attendee count tracking.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Sponsorship &amp; Seva Passes: Sponsorship tiers for pooja rituals with trusted archaka seva trust disbursements.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Photo Galleries: Post-event community memories curated with privacy tags.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6FAF5"/>
          </a:solidFill>
          <a:ln w="12700">
            <a:solidFill>
              <a:srgbClr val="00D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8767"/>
                </a:solidFill>
              </a:defRPr>
            </a:pPr>
            <a:r>
              <a:t>FINTECH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Mana Pay: Unified Payments Hub across 6 Business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1645920" cy="23774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0D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D09C"/>
                </a:solidFill>
              </a:defRPr>
            </a:pPr>
            <a:r>
              <a:t>CORE FINANCIAL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One Checkout for All Community Expenditures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7548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6 Core Business Domains: Maintenance dues, Event tickets, Sports fees, Marketplace orders, Mana Trips, and Health packages.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Itemized Bill Transparency: Collapsible bill breakdown displaying base charges, sinking fund, water meters, and GST before confirmation.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Omni-Rail Payments: Instant dynamic UPI QR, UPI Deep-Linking Intent (GPay/PhonePe/Paytm), Cards/NetBanking, and Resident Wallet.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Official Digital Receipts: Certified PDF receipts featuring RWA Society GSTIN, bank reference UTR, and automated verification stamp.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Treasurer Bank Reconciliation: 1-click matching between HDFC/ICICI bank statement UTRs and internal transaction IDs.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54480"/>
            <a:ext cx="32004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1645920" cy="23774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F46E5"/>
                </a:solidFill>
              </a:defRPr>
            </a:pPr>
            <a:r>
              <a:t>FINANCIAL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057400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Autopay &amp; Split Bills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514600"/>
            <a:ext cx="2834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Bills Autopay (CRED-style): e-Mandate registration for utility &amp; maintenance dues with 24-hr pre-debit notifications.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Mana Split: Group expense splitting with smart debt simplification for carpools and celebrations.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Multi-Perspective Scoping: Resident (personal ledger), Treasurer (society totals), Vendor (authorized orders only).</a:t>
            </a:r>
          </a:p>
        </p:txBody>
      </p:sp>
      <p:pic>
        <p:nvPicPr>
          <p:cNvPr id="13" name="Picture 12" descr="screen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371600"/>
            <a:ext cx="2331720" cy="49231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6FAF5"/>
          </a:solidFill>
          <a:ln w="12700">
            <a:solidFill>
              <a:srgbClr val="00D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8767"/>
                </a:solidFill>
              </a:defRPr>
            </a:pPr>
            <a:r>
              <a:t>SECURITY &amp;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Security &amp; Safety: ANPR Gate Vision &amp; 24/7 SOS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9319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1645920" cy="23774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891B2"/>
                </a:solidFill>
              </a:defRPr>
            </a:pPr>
            <a:r>
              <a:t>FACILITY HARDWARE 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Gate Access &amp; ANPR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35661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Automatic Number Plate Recognition (ANPR): Live camera optical recognition triggering automatic boom barrier entry for resident cars.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Visitor Pass Management: Pre-approved 1-tap OTP entry for guests and instant passes for Swiggy/Zomato/Amazon delivery agents.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Biometric Turnstiles: Telemetry-tracked pedestrian turnstile entry at clubhouse, gym, and side gates.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Parking &amp; EV Charging: Automated slot reservations with kilowatt consumption billed directly into the monthly apartment dues.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554480"/>
            <a:ext cx="39319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0" y="1737360"/>
            <a:ext cx="1645920" cy="23774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E11D48"/>
                </a:solidFill>
              </a:defRPr>
            </a:pPr>
            <a:r>
              <a:t>CRITICAL LIFELINE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057400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24/7 Emergency SOS Command Center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514600"/>
            <a:ext cx="35661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1-Tap Emergency Broadcast: Instant panic trigger dispatching alerts to main gate security, floor marshals, and nearby doctor residents.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Multi-Category Panic: Specialized workflows for Medical Emergency, Fire Hazard, Stuck Elevator, Animal Threat, and Domestic Panic.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Accurate Location Pinning: Automatically broadcasts exact Tower, Flat Number, and primary contact phone.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Incident Audit Logging: Complete timestamped trail from alarm trigger to guard acknowledgement and resolution sign-off.</a:t>
            </a:r>
          </a:p>
        </p:txBody>
      </p:sp>
      <p:pic>
        <p:nvPicPr>
          <p:cNvPr id="13" name="Picture 12" descr="screen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371600"/>
            <a:ext cx="2377440" cy="50197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6FAF5"/>
          </a:solidFill>
          <a:ln w="12700">
            <a:solidFill>
              <a:srgbClr val="00D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8767"/>
                </a:solidFill>
              </a:defRPr>
            </a:pPr>
            <a:r>
              <a:t>LIVING &amp;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Smart Helpdesk &amp; On-Demand Home Services</a:t>
            </a:r>
          </a:p>
        </p:txBody>
      </p:sp>
      <p:pic>
        <p:nvPicPr>
          <p:cNvPr id="5" name="Picture 4" descr="screen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2423160" cy="511624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474720" y="1554480"/>
            <a:ext cx="39319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0" y="1737360"/>
            <a:ext cx="1645920" cy="23774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0D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D09C"/>
                </a:solidFill>
              </a:defRPr>
            </a:pPr>
            <a:r>
              <a:t>SERVICE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057400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SLA-Enforced Smart Helpdesk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514600"/>
            <a:ext cx="35661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Automated Ticket Categorization: Multi-tier routing for Plumbing, Electrical, Carpentry, Common Area, and Masonry complaints.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SLA Countdown Timers: Automatic escalation to Estate Manager if tickets are unacknowledged within 30 minutes.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Work Order &amp; Technician Dispatch: Assigns internal facility maintenance staff or certified external contractors based on availability.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Proof of Completion: Mandatory photo uploads and resident digital sign-off before closing tickets.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554480"/>
            <a:ext cx="39319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0" y="1737360"/>
            <a:ext cx="1645920" cy="23774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0D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D09C"/>
                </a:solidFill>
              </a:defRPr>
            </a:pPr>
            <a:r>
              <a:t>DOMESTIC 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057400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Verified Home Services &amp; Staff Directory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514600"/>
            <a:ext cx="35661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Aadhaar &amp; Police Verified Staff: Comprehensive directory of maids, cooks, nannies, and drivers with community trust badges.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Crowdsourced Neighbor Reviews: Honest reviews and ratings from flat owners in the same towers.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Salary Tracker &amp; Attendance: Track domestic staff monthly attendance logs and automated salary calculation.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Instant Replacement Requests: Community broadcast board when hiring a replacement cook or driver.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6FAF5"/>
          </a:solidFill>
          <a:ln w="12700">
            <a:solidFill>
              <a:srgbClr val="00D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8767"/>
                </a:solidFill>
              </a:defRPr>
            </a:pPr>
            <a:r>
              <a:t>HEALTH &amp; WELLNESS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Mana Health: Preventative &amp; On-Demand Community Healthcare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1645920" cy="23774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0D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D09C"/>
                </a:solidFill>
              </a:defRPr>
            </a:pPr>
            <a:r>
              <a:t>INTEGRATED HEALTHCARE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Healthcare Infrastructure within Society Gates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6634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Diagnostic Sample Collection at Home: Book blood tests and health checkup packages with partner diagnostic labs (Apollo/Thyrocare).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Teleconsultations &amp; Doctor Network: Consult verified doctors living within the society or affiliated healthcare clinics.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Society Health Camps: Regular vaccination drives, cardiac screenings, and senior citizen wellness camps organized in the clubhouse.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Resident Health Vault: Secure, encrypted storage for family prescriptions, vaccination cards, and past lab reports.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Emergency Ambulance Coordination: 1-click coordination with nearest partner hospitals during medical crises.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554480"/>
            <a:ext cx="32918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1645920" cy="23774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891B2"/>
                </a:solidFill>
              </a:defRPr>
            </a:pPr>
            <a:r>
              <a:t>WELLNESS REGISTRY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05740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Wellness &amp; Pet Registry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514600"/>
            <a:ext cx="2926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Pet Registry &amp; Vaccine Tracking: Complete dog/cat registry with rabies vaccination records and lost pet alerts.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Society Wellness Programs: Group yoga sessions, meditation circles, and marathon training groups.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Health Wallet Credits: Redeem cashback from maintenance payments toward preventive diagnostic checkups.</a:t>
            </a:r>
          </a:p>
        </p:txBody>
      </p:sp>
      <p:pic>
        <p:nvPicPr>
          <p:cNvPr id="13" name="Picture 12" descr="screen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371600"/>
            <a:ext cx="2331720" cy="49231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6FAF5"/>
          </a:solidFill>
          <a:ln w="12700">
            <a:solidFill>
              <a:srgbClr val="00D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8767"/>
                </a:solidFill>
              </a:defRPr>
            </a:pPr>
            <a:r>
              <a:t>COMMERCE &amp; ECONOMY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Hyperlocal Commerce: Resident Marketplace &amp; Group Buying</a:t>
            </a:r>
          </a:p>
        </p:txBody>
      </p:sp>
      <p:pic>
        <p:nvPicPr>
          <p:cNvPr id="5" name="Picture 4" descr="screen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2423160" cy="511624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474720" y="1554480"/>
            <a:ext cx="39319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0" y="1737360"/>
            <a:ext cx="1645920" cy="23774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0D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D09C"/>
                </a:solidFill>
              </a:defRPr>
            </a:pPr>
            <a:r>
              <a:t>HYPERLOCAL COMMERCE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057400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Resident-to-Resident Marketplace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514600"/>
            <a:ext cx="35661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Pre-Loved Goods Trading: Buy and sell furniture, electronics, strollers, and books within the verified resident community.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Zero Delivery Friction: Hyperlocal pickup inside society gates eliminating packing, courier, or delivery hassles.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In-App Resident Chat: Negotiate, ask questions, and arrange inspection times safely without giving out mobile numbers.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Freecycle &amp; Donation Hub: Dedicated section for giving away items to domestic staff, cleaning crew, or charitable organizations.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554480"/>
            <a:ext cx="39319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0" y="1737360"/>
            <a:ext cx="1645920" cy="23774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F46E5"/>
                </a:solidFill>
              </a:defRPr>
            </a:pPr>
            <a:r>
              <a:t>COMMERCE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057400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Wholesale Group Buying &amp; Local Deals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514600"/>
            <a:ext cx="35661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Collective Wholesale Power: Pool orders with neighbors for direct farm deliveries of organic mangoes, cold-pressed oils, and farm fresh vegetables.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Dynamic Threshold Pricing: Prices drop automatically as more society households join the bulk purchase pool.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Mana Deals (`/deals`): Exclusive discount vouchers negotiated with local neighborhood bakeries, car washes, and supermarkets.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Escrow &amp; Auto-Refunds: Automated instant refunds if group targets are unmet or vendor stock runs out.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6FAF5"/>
          </a:solidFill>
          <a:ln w="12700">
            <a:solidFill>
              <a:srgbClr val="00D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8767"/>
                </a:solidFill>
              </a:defRPr>
            </a:pPr>
            <a:r>
              <a:t>SPORTS &amp; LEISURE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Sports &amp; Community Life: Interactive Leagues &amp; Live Player Auction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1645920" cy="23774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D97706"/>
                </a:solidFill>
              </a:defRPr>
            </a:pPr>
            <a:r>
              <a:t>FLAGSHIP SPORTS 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IPL-Style Live Player Auction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6634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Real-Time Virtual Bidding Room: STOMP WebSocket powered auction room featuring live team purses, bid countdown timer, and sound effects.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Right-to-Match (RTM) Cards: Teams can exercise RTM cards to retain star players under official league rules.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CricHeroes Profile Sync: Imports real batting strike rates, bowling averages, and match stats directly onto player cards.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Team Balance Radar Charts: Visual radar charts evaluating team composition (Batsmen, Bowlers, All-rounders) as bidding progresses.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Automated Registration &amp; Payments: Registration fees collected via Mana Pay with automatic purse pool allocations.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554480"/>
            <a:ext cx="32918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1645920" cy="23774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891B2"/>
                </a:solidFill>
              </a:defRPr>
            </a:pPr>
            <a:r>
              <a:t>LEAGUE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05740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Tournament Management &amp; Brackets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514600"/>
            <a:ext cx="29260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Live Scoreboards: Real-time ball-by-ball and point-by-point tracking for Cricket, Badminton, and Football.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Tournament Brackets: Automated round-robin fixtures and knockout brackets with automatic advancement.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Leaderboards &amp; MVP Awards: Community stats tracking top scorers, golden boot, and fair play team awards.</a:t>
            </a:r>
          </a:p>
        </p:txBody>
      </p:sp>
      <p:pic>
        <p:nvPicPr>
          <p:cNvPr id="13" name="Picture 12" descr="screen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371600"/>
            <a:ext cx="2331720" cy="49231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6FAF5"/>
          </a:solidFill>
          <a:ln w="12700">
            <a:solidFill>
              <a:srgbClr val="00D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8767"/>
                </a:solidFill>
              </a:defRPr>
            </a:pPr>
            <a:r>
              <a:t>LIFESTYLE &amp; TRAVEL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Mana Trips: Community Travel &amp; Shared Getaways</a:t>
            </a:r>
          </a:p>
        </p:txBody>
      </p:sp>
      <p:pic>
        <p:nvPicPr>
          <p:cNvPr id="5" name="Picture 4" descr="screen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2423160" cy="511624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474720" y="1554480"/>
            <a:ext cx="39319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0" y="1737360"/>
            <a:ext cx="1645920" cy="23774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0D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D09C"/>
                </a:solidFill>
              </a:defRPr>
            </a:pPr>
            <a:r>
              <a:t>COMMUNITY ADVENTURES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057400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Community Getaway Organizing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514600"/>
            <a:ext cx="35661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Weekend Group Trips: Society outings to Coorg, Chikmagalur, Goa, Kabini, and pilgrimage circuits organized by resident hosts.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Bus Charter &amp; Itinerary Booking: Integrated charter operator booking with seat selection maps and scheduled boarding stops.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Room Type Allocation: Twin-sharing, private family rooms, and villa accommodation options selected during checkout.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Host Roster &amp; Emergency Broadcast: Travel hosts manage verified passenger manifests, medical emergency contacts, and departure alerts.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554480"/>
            <a:ext cx="39319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0" y="1737360"/>
            <a:ext cx="1645920" cy="23774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F46E5"/>
                </a:solidFill>
              </a:defRPr>
            </a:pPr>
            <a:r>
              <a:t>SHARED EXPENSES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057400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Automated Trip Splits &amp; Carpools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514600"/>
            <a:ext cx="35661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Mana Split Integration: Shared fuel, toll tax, and bonfire barbecue expenses split seamlessly among participants.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Daily Commute Pool: Connect with neighbors commuting to identical tech parks (Electronic City, Whitefield, Manyata) with shared fuel costs.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Traveler Reviews &amp; Badges: Verified community feedback on past trips and itineraries.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Cancellation &amp; Refund Protection: Automated pro-rata refunds based on defined cancellation windows.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6FAF5"/>
          </a:solidFill>
          <a:ln w="12700">
            <a:solidFill>
              <a:srgbClr val="00D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8767"/>
                </a:solidFill>
              </a:defRPr>
            </a:pPr>
            <a:r>
              <a:t>KNOWLEDGE &amp; CAREER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Community Professional Network (CPN) &amp; Mana Academy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9319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1645920" cy="23774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F46E5"/>
                </a:solidFill>
              </a:defRPr>
            </a:pPr>
            <a:r>
              <a:t>SOCIAL CAPITAL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Community Professional Network (CPN)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35661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Neighbor Professional Directory: Connect with software architects, doctors, lawyers, chartered accountants, and founders living next door.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Mentorship &amp; Career Advice: Senior professionals offer 1-on-1 guidance to college graduates and aspiring founders in the community.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Verified Job Referrals: Direct referral requests to employees working at Tier-1 companies living in your society.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Freelance &amp; Startup Collab: Hire vetted neighbor talent for web development, legal consultation, tax filing, or interior design.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554480"/>
            <a:ext cx="39319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0" y="1737360"/>
            <a:ext cx="1645920" cy="23774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0D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D09C"/>
                </a:solidFill>
              </a:defRPr>
            </a:pPr>
            <a:r>
              <a:t>LEARNING ECOSYSTEM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057400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Mana Academy: Lifelong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514600"/>
            <a:ext cx="35661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Community-Led Workshops: Resident experts teach weekend classes in coding, robotics, public speaking, yoga, and baking.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Kids' Enrichment Programs: After-school chess clubs, classical dance, music, and martial arts hosted in community halls.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Instructor Hub: Easy scheduling, attendance tracking, and syllabus distribution for resident tutors.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Affordable Micro-Tuition: Seamless course fee collection via Mana Pay with zero platform commissions.</a:t>
            </a:r>
          </a:p>
        </p:txBody>
      </p:sp>
      <p:pic>
        <p:nvPicPr>
          <p:cNvPr id="13" name="Picture 12" descr="screen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371600"/>
            <a:ext cx="2377440" cy="501970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6FAF5"/>
          </a:solidFill>
          <a:ln w="12700">
            <a:solidFill>
              <a:srgbClr val="00D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8767"/>
                </a:solidFill>
              </a:defRPr>
            </a:pPr>
            <a:r>
              <a:t>GOVERNANCE &amp; LEGAL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Governance &amp; Property OS: Digital AGMs, Secret Ballots &amp; CPOS</a:t>
            </a:r>
          </a:p>
        </p:txBody>
      </p:sp>
      <p:pic>
        <p:nvPicPr>
          <p:cNvPr id="5" name="Picture 4" descr="screen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2423160" cy="511624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474720" y="1554480"/>
            <a:ext cx="39319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0" y="1737360"/>
            <a:ext cx="1645920" cy="23774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0D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D09C"/>
                </a:solidFill>
              </a:defRPr>
            </a:pPr>
            <a:r>
              <a:t>TRANSPARENT DEMOCRACY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057400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Democratic Governance &amp; Voting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514600"/>
            <a:ext cx="35661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Hybrid Annual General Meetings (AGMs): Live quorum status counter, meeting agenda distribution, and digital attendee logging.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Secret Ballot Voting: Legally compliant, tamper-evident e-voting on capital expenditures (Solar grid installation, gym overhaul, security tenders).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Verifiable Resolution Vault: Searchable repository of past RWA bye-laws, AGM meeting minutes, and audited balance sheets.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Committee Elections: Transparent nomination filing, candidate manifestos, and electronic vote tallying.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554480"/>
            <a:ext cx="39319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0" y="1737360"/>
            <a:ext cx="1645920" cy="23774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891B2"/>
                </a:solidFill>
              </a:defRPr>
            </a:pPr>
            <a:r>
              <a:t>PROPERTY ASSET MGMT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057400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Community Property OS (CPOS)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514600"/>
            <a:ext cx="35661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Flat &amp; Tenant Management: Owner vs. Tenant access controls, digital lease agreements, and Move-In / Move-Out NOC workflows.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Document Vault: Secure cloud storage for sale deeds, property tax receipts, khata certificates, and possession letters.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AI Property Advisor: Real-time rental valuation analysis comparing society market rates with current tenant rent.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Occupancy &amp; Utility Analytics: Society-wide dashboards tracking occupancy rates, water consumption, and maintenance arrears.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D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D09C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Robust, Scalable &amp; Secure Technical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891B2"/>
                </a:solidFill>
              </a:defRPr>
            </a:pPr>
            <a:r>
              <a:t>Frontend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</a:defRPr>
            </a:pPr>
            <a:r>
              <a:t>• React 19 &amp; TypeScript 5.8: Modern component hierarchy with strict compile-time type safety.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</a:defRPr>
            </a:pPr>
            <a:r>
              <a:t>• React Native &amp; Expo: Native mobile client powering iOS &amp; Android apps.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</a:defRPr>
            </a:pPr>
            <a:r>
              <a:t>• Tailwind CSS v4 &amp; Radix UI: Consistent fintech design system modeled on Groww &amp; modern banking standards.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</a:defRPr>
            </a:pPr>
            <a:r>
              <a:t>• Vite 6 Bundler: Sub-second hot module reload and tree-shaken production bundles.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D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09C"/>
                </a:solidFill>
              </a:defRPr>
            </a:pPr>
            <a:r>
              <a:t>Real-Time &amp; Networking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</a:defRPr>
            </a:pPr>
            <a:r>
              <a:t>• STOMP WebSockets / SockJS: Low-latency duplex communication powering live auctions, chat &amp; SOS alerts.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</a:defRPr>
            </a:pPr>
            <a:r>
              <a:t>• Axios ApiClient: Centralized request lifecycle with correlation IDs, token refresh &amp; retry backoff.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</a:defRPr>
            </a:pPr>
            <a:r>
              <a:t>• SafeStorage Cache: Resilient client storage with fallback mechanisms during storage pressure.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</a:defRPr>
            </a:pPr>
            <a:r>
              <a:t>• OfflineSyncManager: Offline mutation queues ensuring zero data loss during network drops.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3736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Security &amp; Platform 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</a:defRPr>
            </a:pPr>
            <a:r>
              <a:t>• Granular RBAC: Multi-tier roles (Super Admin, Treasurer, Resident, Vendor, Guard) with permission guards.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</a:defRPr>
            </a:pPr>
            <a:r>
              <a:t>• Idempotency Guard: Tokenized payment headers preventing duplicate charge debits across all rails.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</a:defRPr>
            </a:pPr>
            <a:r>
              <a:t>• Audit Trail &amp; Compliance: Tamper-evident logging of admin mutations and privacy data requests.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</a:defRPr>
            </a:pPr>
            <a:r>
              <a:t>• Platform Ops Console: Real-time telemetry monitoring service health, queue lag &amp; error rate spikes.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6FAF5"/>
          </a:solidFill>
          <a:ln w="12700">
            <a:solidFill>
              <a:srgbClr val="00D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8767"/>
                </a:solidFill>
              </a:defRPr>
            </a:pPr>
            <a:r>
              <a:t>EXECUTION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Phased Implementation Roadmap &amp; Feature Classification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D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3017520" cy="274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0D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D09C"/>
                </a:solidFill>
              </a:defRPr>
            </a:pPr>
            <a:r>
              <a:t>ALREADY LIVE IN CODEBASE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E293B"/>
                </a:solidFill>
              </a:defRPr>
            </a:pPr>
            <a:r>
              <a:t>Phase 1: Core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64748B"/>
                </a:solidFill>
              </a:defRPr>
            </a:pPr>
            <a:r>
              <a:t>✓ Community Feed, Announcements &amp; Notice Board</a:t>
            </a:r>
          </a:p>
          <a:p>
            <a:pPr>
              <a:spcAft>
                <a:spcPts val="700"/>
              </a:spcAft>
              <a:defRPr sz="1000">
                <a:solidFill>
                  <a:srgbClr val="64748B"/>
                </a:solidFill>
              </a:defRPr>
            </a:pPr>
            <a:r>
              <a:t>✓ Mana Pay: 6-Domain Unified Payment Hub &amp; Dues</a:t>
            </a:r>
          </a:p>
          <a:p>
            <a:pPr>
              <a:spcAft>
                <a:spcPts val="700"/>
              </a:spcAft>
              <a:defRPr sz="1000">
                <a:solidFill>
                  <a:srgbClr val="64748B"/>
                </a:solidFill>
              </a:defRPr>
            </a:pPr>
            <a:r>
              <a:t>✓ Itemized Bill Breakdown &amp; Bank UTR Reconciliation</a:t>
            </a:r>
          </a:p>
          <a:p>
            <a:pPr>
              <a:spcAft>
                <a:spcPts val="700"/>
              </a:spcAft>
              <a:defRPr sz="1000">
                <a:solidFill>
                  <a:srgbClr val="64748B"/>
                </a:solidFill>
              </a:defRPr>
            </a:pPr>
            <a:r>
              <a:t>✓ Visitor Passes &amp; Basic Helpdesk Management</a:t>
            </a:r>
          </a:p>
          <a:p>
            <a:pPr>
              <a:spcAft>
                <a:spcPts val="700"/>
              </a:spcAft>
              <a:defRPr sz="1000">
                <a:solidFill>
                  <a:srgbClr val="64748B"/>
                </a:solidFill>
              </a:defRPr>
            </a:pPr>
            <a:r>
              <a:t>✓ Resident-to-Resident Marketplace &amp; Profiles</a:t>
            </a:r>
          </a:p>
          <a:p>
            <a:pPr>
              <a:spcAft>
                <a:spcPts val="700"/>
              </a:spcAft>
              <a:defRPr sz="1000">
                <a:solidFill>
                  <a:srgbClr val="64748B"/>
                </a:solidFill>
              </a:defRPr>
            </a:pPr>
            <a:r>
              <a:t>✓ Live Sports League &amp; IPL-Style Auction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737360"/>
            <a:ext cx="3017520" cy="274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F46E5"/>
                </a:solidFill>
              </a:defRPr>
            </a:pPr>
            <a:r>
              <a:t>INTEGRATION PHASE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5740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E293B"/>
                </a:solidFill>
              </a:defRPr>
            </a:pPr>
            <a:r>
              <a:t>Phase 2: Operations &amp; Hardware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146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64748B"/>
                </a:solidFill>
              </a:defRPr>
            </a:pPr>
            <a:r>
              <a:t>✓ ANPR Gate Camera Stream &amp; Boom Barrier Automation</a:t>
            </a:r>
          </a:p>
          <a:p>
            <a:pPr>
              <a:spcAft>
                <a:spcPts val="700"/>
              </a:spcAft>
              <a:defRPr sz="1000">
                <a:solidFill>
                  <a:srgbClr val="64748B"/>
                </a:solidFill>
              </a:defRPr>
            </a:pPr>
            <a:r>
              <a:t>✓ Biometric Turnstile Integration for Clubhouse &amp; Gym</a:t>
            </a:r>
          </a:p>
          <a:p>
            <a:pPr>
              <a:spcAft>
                <a:spcPts val="700"/>
              </a:spcAft>
              <a:defRPr sz="1000">
                <a:solidFill>
                  <a:srgbClr val="64748B"/>
                </a:solidFill>
              </a:defRPr>
            </a:pPr>
            <a:r>
              <a:t>✓ Smart Helpdesk SLA Timers &amp; Auto Dispatch</a:t>
            </a:r>
          </a:p>
          <a:p>
            <a:pPr>
              <a:spcAft>
                <a:spcPts val="700"/>
              </a:spcAft>
              <a:defRPr sz="1000">
                <a:solidFill>
                  <a:srgbClr val="64748B"/>
                </a:solidFill>
              </a:defRPr>
            </a:pPr>
            <a:r>
              <a:t>✓ EV Charging Station Reservation &amp; Meter Billing</a:t>
            </a:r>
          </a:p>
          <a:p>
            <a:pPr>
              <a:spcAft>
                <a:spcPts val="700"/>
              </a:spcAft>
              <a:defRPr sz="1000">
                <a:solidFill>
                  <a:srgbClr val="64748B"/>
                </a:solidFill>
              </a:defRPr>
            </a:pPr>
            <a:r>
              <a:t>✓ CRED-style Recurring Autopay &amp; Mandates</a:t>
            </a:r>
          </a:p>
          <a:p>
            <a:pPr>
              <a:spcAft>
                <a:spcPts val="700"/>
              </a:spcAft>
              <a:defRPr sz="1000">
                <a:solidFill>
                  <a:srgbClr val="64748B"/>
                </a:solidFill>
              </a:defRPr>
            </a:pPr>
            <a:r>
              <a:t>✓ Mana Health: Diagnostic Sample Home Collection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0" y="1737360"/>
            <a:ext cx="3017520" cy="274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D97706"/>
                </a:solidFill>
              </a:defRPr>
            </a:pPr>
            <a:r>
              <a:t>PLANNED NEXT HORIZON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05740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E293B"/>
                </a:solidFill>
              </a:defRPr>
            </a:pPr>
            <a:r>
              <a:t>Phase 3: Hyperlocal Economy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5146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64748B"/>
                </a:solidFill>
              </a:defRPr>
            </a:pPr>
            <a:r>
              <a:t>✓ Wholesale Group Buying Pools with Auto-Refunds</a:t>
            </a:r>
          </a:p>
          <a:p>
            <a:pPr>
              <a:spcAft>
                <a:spcPts val="700"/>
              </a:spcAft>
              <a:defRPr sz="1000">
                <a:solidFill>
                  <a:srgbClr val="64748B"/>
                </a:solidFill>
              </a:defRPr>
            </a:pPr>
            <a:r>
              <a:t>✓ CPN Mentorship Matching &amp; AI Career Assistant</a:t>
            </a:r>
          </a:p>
          <a:p>
            <a:pPr>
              <a:spcAft>
                <a:spcPts val="700"/>
              </a:spcAft>
              <a:defRPr sz="1000">
                <a:solidFill>
                  <a:srgbClr val="64748B"/>
                </a:solidFill>
              </a:defRPr>
            </a:pPr>
            <a:r>
              <a:t>✓ Mana Academy Course Certification Engine</a:t>
            </a:r>
          </a:p>
          <a:p>
            <a:pPr>
              <a:spcAft>
                <a:spcPts val="700"/>
              </a:spcAft>
              <a:defRPr sz="1000">
                <a:solidFill>
                  <a:srgbClr val="64748B"/>
                </a:solidFill>
              </a:defRPr>
            </a:pPr>
            <a:r>
              <a:t>✓ Hybrid AGM Video Streaming &amp; Secret Ballot Vault</a:t>
            </a:r>
          </a:p>
          <a:p>
            <a:pPr>
              <a:spcAft>
                <a:spcPts val="700"/>
              </a:spcAft>
              <a:defRPr sz="1000">
                <a:solidFill>
                  <a:srgbClr val="64748B"/>
                </a:solidFill>
              </a:defRPr>
            </a:pPr>
            <a:r>
              <a:t>✓ Mana Trips Bus Charter Route Optimization</a:t>
            </a:r>
          </a:p>
          <a:p>
            <a:pPr>
              <a:spcAft>
                <a:spcPts val="700"/>
              </a:spcAft>
              <a:defRPr sz="1000">
                <a:solidFill>
                  <a:srgbClr val="64748B"/>
                </a:solidFill>
              </a:defRPr>
            </a:pPr>
            <a:r>
              <a:t>✓ AI Property Advisor &amp; Automated Rental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